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Maven Pro"/>
      <p:regular r:id="rId29"/>
      <p:bold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gAlQ6XGozXVP7cLLL0fsKiAMvP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MavenPr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ba7929ef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ba7929ef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ba7929efc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ba7929efc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ba7929efc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ba7929efc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ba7929efc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ba7929efc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ba7929ef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ba7929ef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ba7929ef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ba7929ef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ba7929ef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ba7929ef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ba7929efc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ba7929efc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ba7929efc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ba7929efc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ba7929efc_3_2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ba7929efc_3_2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ba7929ef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ba7929ef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aba7929efc_3_2153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g3aba7929efc_3_2153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g3aba7929efc_3_2153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g3aba7929efc_3_2153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g3aba7929efc_3_2153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g3aba7929efc_3_2153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g3aba7929efc_3_2153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g3aba7929efc_3_2153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g3aba7929efc_3_2153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g3aba7929efc_3_2153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g3aba7929efc_3_2153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g3aba7929efc_3_2153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g3aba7929efc_3_2153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g3aba7929efc_3_2153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g3aba7929efc_3_2153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aba7929efc_3_2153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g3aba7929efc_3_2153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g3aba7929efc_3_2153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g3aba7929efc_3_2153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g3aba7929efc_3_2153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g3aba7929efc_3_2153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aba7929efc_3_2153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g3aba7929efc_3_2153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g3aba7929efc_3_2153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g3aba7929efc_3_2153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g3aba7929efc_3_2153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g3aba7929efc_3_2153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g3aba7929efc_3_2153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g3aba7929efc_3_2153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g3aba7929efc_3_2153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g3aba7929efc_3_2153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aba7929efc_3_2153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g3aba7929efc_3_2153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g3aba7929efc_3_2153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aba7929efc_3_2153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aba7929efc_3_2153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g3aba7929efc_3_215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aba7929efc_3_215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g3aba7929efc_3_215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g3aba7929efc_3_219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g3aba7929efc_3_219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g3aba7929efc_3_219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aba7929efc_3_219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g3aba7929efc_3_219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g3aba7929efc_3_219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g3aba7929efc_3_219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aba7929efc_3_219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g3aba7929efc_3_219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g3aba7929efc_3_219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aba7929efc_3_219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aba7929efc_3_219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g3aba7929efc_3_219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g3aba7929efc_3_219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g3aba7929efc_3_219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g3aba7929efc_3_219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aba7929efc_3_219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g3aba7929efc_3_219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g3aba7929efc_3_219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g3aba7929efc_3_219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aba7929efc_3_219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g3aba7929efc_3_219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g3aba7929efc_3_219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aba7929efc_3_219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g3aba7929efc_3_219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g3aba7929efc_3_219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g3aba7929efc_3_219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g3aba7929efc_3_219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aba7929efc_3_219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aba7929efc_3_219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g3aba7929efc_3_219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g3aba7929efc_3_219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g3aba7929efc_3_219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aba7929efc_3_219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g3aba7929efc_3_222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g3aba7929efc_3_222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aba7929efc_3_222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g3aba7929efc_3_22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g3aba7929efc_3_22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g3aba7929efc_3_22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aba7929efc_3_223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g3aba7929efc_3_223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aba7929efc_3_223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aba7929efc_3_22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g3aba7929efc_3_223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g3aba7929efc_3_223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g3aba7929efc_3_223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aba7929efc_3_224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g3aba7929efc_3_224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aba7929efc_3_224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aba7929efc_3_22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g3aba7929efc_3_224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aba7929efc_3_224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g3aba7929efc_3_224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aba7929efc_3_224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g3aba7929efc_3_2249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g3aba7929efc_3_2249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g3aba7929efc_3_224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g3aba7929efc_3_2256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g3aba7929efc_3_2256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g3aba7929efc_3_2256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g3aba7929efc_3_2256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g3aba7929efc_3_2256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g3aba7929efc_3_2256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g3aba7929efc_3_2256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aba7929efc_3_2256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3aba7929efc_3_2256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g3aba7929efc_3_2256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g3aba7929efc_3_2256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aba7929efc_3_2256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g3aba7929efc_3_2256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g3aba7929efc_3_225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g3aba7929efc_3_227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g3aba7929efc_3_227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g3aba7929efc_3_227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g3aba7929efc_3_2271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g3aba7929efc_3_2271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g3aba7929efc_3_2271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g3aba7929efc_3_227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aba7929efc_3_2279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g3aba7929efc_3_227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3aba7929efc_3_227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g3aba7929efc_3_2279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g3aba7929efc_3_227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g3aba7929efc_3_2285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g3aba7929efc_3_2285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g3aba7929efc_3_228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g3aba7929efc_3_228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g3aba7929efc_3_228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g3aba7929efc_3_228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g3aba7929efc_3_2285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g3aba7929efc_3_228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g3aba7929efc_3_228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aba7929efc_3_228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3aba7929efc_3_2285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3aba7929efc_3_228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g3aba7929efc_3_2285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g3aba7929efc_3_228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3aba7929efc_3_228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aba7929efc_3_228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g3aba7929efc_3_228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g3aba7929efc_3_2285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g3aba7929efc_3_228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g3aba7929efc_3_228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aba7929efc_3_228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g3aba7929efc_3_2285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g3aba7929efc_3_2285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3aba7929efc_3_2285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3aba7929efc_3_2285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g3aba7929efc_3_2285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g3aba7929efc_3_2285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g3aba7929efc_3_2285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g3aba7929efc_3_2285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aba7929efc_3_2285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aba7929efc_3_2285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g3aba7929efc_3_2285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g3aba7929efc_3_2285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g3aba7929efc_3_2285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aba7929efc_3_2285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aba7929efc_3_2285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g3aba7929efc_3_2285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g3aba7929efc_3_2285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aba7929efc_3_2285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aba7929efc_3_2285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g3aba7929efc_3_2285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g3aba7929efc_3_2285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g3aba7929efc_3_2285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g3aba7929efc_3_2285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aba7929efc_3_2285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aba7929efc_3_2285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aba7929efc_3_2285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g3aba7929efc_3_2285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g3aba7929efc_3_2285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g3aba7929efc_3_2285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aba7929efc_3_2285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g3aba7929efc_3_2285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g3aba7929efc_3_2285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g3aba7929efc_3_2285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aba7929efc_3_2285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g3aba7929efc_3_2285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g3aba7929efc_3_2285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g3aba7929efc_3_2285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aba7929efc_3_2285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aba7929efc_3_2285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g3aba7929efc_3_2285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g3aba7929efc_3_2285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g3aba7929efc_3_2285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aba7929efc_3_2285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aba7929efc_3_2285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g3aba7929efc_3_2285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g3aba7929efc_3_2285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g3aba7929efc_3_2285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aba7929efc_3_2285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aba7929efc_3_2285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g3aba7929efc_3_2285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g3aba7929efc_3_2285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g3aba7929efc_3_2285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g3aba7929efc_3_2285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aba7929efc_3_2285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aba7929efc_3_2285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aba7929efc_3_2285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g3aba7929efc_3_2285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g3aba7929efc_3_2285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aba7929efc_3_2285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aba7929efc_3_2285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g3aba7929efc_3_2285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g3aba7929efc_3_2285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aba7929efc_3_2285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aba7929efc_3_2285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aba7929efc_3_2285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g3aba7929efc_3_2285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g3aba7929efc_3_2285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aba7929efc_3_2285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aba7929efc_3_2285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aba7929efc_3_2285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g3aba7929efc_3_2285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g3aba7929efc_3_2285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g3aba7929efc_3_2285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aba7929efc_3_2285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aba7929efc_3_2285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3aba7929efc_3_2285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g3aba7929efc_3_2285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g3aba7929efc_3_2285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aba7929efc_3_2285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aba7929efc_3_2285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g3aba7929efc_3_2285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g3aba7929efc_3_2285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aba7929efc_3_2285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aba7929efc_3_2285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g3aba7929efc_3_2285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g3aba7929efc_3_2285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g3aba7929efc_3_2285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g3aba7929efc_3_2285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aba7929efc_3_2285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aba7929efc_3_2285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g3aba7929efc_3_2285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g3aba7929efc_3_2285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g3aba7929efc_3_2285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aba7929efc_3_2285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aba7929efc_3_2285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g3aba7929efc_3_2285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g3aba7929efc_3_2285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g3aba7929efc_3_2285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aba7929efc_3_2285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aba7929efc_3_2285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g3aba7929efc_3_2285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g3aba7929efc_3_2285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aba7929efc_3_2285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aba7929efc_3_2285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g3aba7929efc_3_2285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g3aba7929efc_3_2285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g3aba7929efc_3_2285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g3aba7929efc_3_228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ba7929efc_3_24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ba7929efc_3_21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g3aba7929efc_3_21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3aba7929efc_3_214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en"/>
              <a:t>Sustainability analysis of data centers operations using Lean Principles</a:t>
            </a:r>
            <a:endParaRPr/>
          </a:p>
        </p:txBody>
      </p:sp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84" name="Google Shape;284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Literature Survey</a:t>
            </a:r>
            <a:endParaRPr/>
          </a:p>
        </p:txBody>
      </p:sp>
      <p:sp>
        <p:nvSpPr>
          <p:cNvPr id="290" name="Google Shape;290;p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ba7929efc_2_5"/>
          <p:cNvSpPr txBox="1"/>
          <p:nvPr>
            <p:ph type="title"/>
          </p:nvPr>
        </p:nvSpPr>
        <p:spPr>
          <a:xfrm>
            <a:off x="1242800" y="348400"/>
            <a:ext cx="7030500" cy="11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cap="small">
                <a:solidFill>
                  <a:srgbClr val="C28E0E"/>
                </a:solidFill>
                <a:latin typeface="Arial"/>
                <a:ea typeface="Arial"/>
                <a:cs typeface="Arial"/>
                <a:sym typeface="Arial"/>
              </a:rPr>
              <a:t>1.1 Process Improvement Techniques</a:t>
            </a:r>
            <a:endParaRPr/>
          </a:p>
        </p:txBody>
      </p:sp>
      <p:sp>
        <p:nvSpPr>
          <p:cNvPr id="296" name="Google Shape;296;g3aba7929efc_2_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12700" lvl="0" marL="127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C28E0E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Lean Techniques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127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C28E0E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Data Analysis Tools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127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C28E0E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Simulation Techniques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127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C28E0E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 4.0 Technology-based techniques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ba7929efc_2_12"/>
          <p:cNvSpPr txBox="1"/>
          <p:nvPr>
            <p:ph type="title"/>
          </p:nvPr>
        </p:nvSpPr>
        <p:spPr>
          <a:xfrm>
            <a:off x="1303800" y="598575"/>
            <a:ext cx="7030500" cy="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00" cap="small">
                <a:solidFill>
                  <a:srgbClr val="C28E0E"/>
                </a:solidFill>
                <a:latin typeface="Arial"/>
                <a:ea typeface="Arial"/>
                <a:cs typeface="Arial"/>
                <a:sym typeface="Arial"/>
              </a:rPr>
              <a:t>1.1.1  Lean Techniques</a:t>
            </a:r>
            <a:endParaRPr sz="2720"/>
          </a:p>
        </p:txBody>
      </p:sp>
      <p:sp>
        <p:nvSpPr>
          <p:cNvPr id="302" name="Google Shape;302;g3aba7929efc_2_12"/>
          <p:cNvSpPr txBox="1"/>
          <p:nvPr>
            <p:ph idx="1" type="body"/>
          </p:nvPr>
        </p:nvSpPr>
        <p:spPr>
          <a:xfrm>
            <a:off x="1303800" y="1623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Fishbone Analysis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MUDA Waste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PDCA </a:t>
            </a:r>
            <a:endParaRPr b="1"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ba7929efc_2_18"/>
          <p:cNvSpPr txBox="1"/>
          <p:nvPr>
            <p:ph type="title"/>
          </p:nvPr>
        </p:nvSpPr>
        <p:spPr>
          <a:xfrm>
            <a:off x="1389225" y="134875"/>
            <a:ext cx="70305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Fishbone Analysis</a:t>
            </a:r>
            <a:endParaRPr/>
          </a:p>
        </p:txBody>
      </p:sp>
      <p:pic>
        <p:nvPicPr>
          <p:cNvPr id="308" name="Google Shape;308;g3aba7929efc_2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925" y="675625"/>
            <a:ext cx="8102701" cy="4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ba7929efc_2_23"/>
          <p:cNvSpPr txBox="1"/>
          <p:nvPr>
            <p:ph type="title"/>
          </p:nvPr>
        </p:nvSpPr>
        <p:spPr>
          <a:xfrm>
            <a:off x="1303800" y="598575"/>
            <a:ext cx="7030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MUDA &amp; PDCA</a:t>
            </a:r>
            <a:endParaRPr/>
          </a:p>
        </p:txBody>
      </p:sp>
      <p:sp>
        <p:nvSpPr>
          <p:cNvPr id="314" name="Google Shape;314;g3aba7929efc_2_23"/>
          <p:cNvSpPr txBox="1"/>
          <p:nvPr>
            <p:ph idx="1" type="body"/>
          </p:nvPr>
        </p:nvSpPr>
        <p:spPr>
          <a:xfrm>
            <a:off x="1303800" y="1529825"/>
            <a:ext cx="7030500" cy="30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ba7929efc_1_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VSM	</a:t>
            </a:r>
            <a:endParaRPr/>
          </a:p>
        </p:txBody>
      </p:sp>
      <p:sp>
        <p:nvSpPr>
          <p:cNvPr id="320" name="Google Shape;320;g3aba7929efc_1_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VSM to Map end-to-end carbon and energy flow for AWS compute resources.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VSM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chose a power load to compute IT Power - 50%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 we answer how </a:t>
            </a:r>
            <a:r>
              <a:rPr lang="en"/>
              <a:t>many kWh does 1 vCPU-hour consume at 50% load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" title="Screenshot 2025-11-30 at 15.44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643" y="1626650"/>
            <a:ext cx="7334649" cy="27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aba7929efc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058" y="1438978"/>
            <a:ext cx="5676149" cy="341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ba7929efc_3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values using Excel</a:t>
            </a:r>
            <a:endParaRPr/>
          </a:p>
        </p:txBody>
      </p:sp>
      <p:sp>
        <p:nvSpPr>
          <p:cNvPr id="336" name="Google Shape;336;g3aba7929efc_3_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MINITAB</a:t>
            </a:r>
            <a:endParaRPr/>
          </a:p>
        </p:txBody>
      </p:sp>
      <p:sp>
        <p:nvSpPr>
          <p:cNvPr id="342" name="Google Shape;342;p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Python Code Analysis : Dataset</a:t>
            </a:r>
            <a:endParaRPr/>
          </a:p>
        </p:txBody>
      </p:sp>
      <p:sp>
        <p:nvSpPr>
          <p:cNvPr id="348" name="Google Shape;348;p6"/>
          <p:cNvSpPr txBox="1"/>
          <p:nvPr/>
        </p:nvSpPr>
        <p:spPr>
          <a:xfrm>
            <a:off x="294400" y="1098625"/>
            <a:ext cx="8229600" cy="4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b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~402 rows, ~20 columns – each row represents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EC2 instance type / platform combination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m5.large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a specific CPU family).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instance-level fields: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instance_type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instance_vcpu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instance_memory_in_gb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size of the VM.,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platform_cpu_name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platform_memory_in_gb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storage_type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underlying physical server family.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&amp; energy profile</a:t>
            </a:r>
            <a:b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ramwatt__idle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ramwatt__10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ramwatt__50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ramwatt__100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delta_full_machine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estimated server power at different loads.From these, we computed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power (W)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yearly IT energy (kWh)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Lifecycle / Scope-3 emissions</a:t>
            </a:r>
            <a:b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 Platform Scope 3 Emissions (kgCO2eq)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manufacturing + supply-chain CO₂ for each platform.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annualized this over 4 years to get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Embodied_CO2e_kg_per_year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Derived CO₂ metrics (in Python)</a:t>
            </a:r>
            <a:b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Operational_CO2e_kg_per_year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Total_kWh × 0.4 kg CO₂/kWh (assuming PUE = 1.4).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Total_CO2e_kg_per_year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Operational + Embodied.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CO2e_kg_per_vCPU_per_year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efficiency metric used for comparing CPU platforms.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"/>
          <p:cNvSpPr txBox="1"/>
          <p:nvPr>
            <p:ph type="title"/>
          </p:nvPr>
        </p:nvSpPr>
        <p:spPr>
          <a:xfrm>
            <a:off x="223600" y="15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Energy Calculations</a:t>
            </a:r>
            <a:endParaRPr/>
          </a:p>
        </p:txBody>
      </p:sp>
      <p:pic>
        <p:nvPicPr>
          <p:cNvPr id="354" name="Google Shape;354;p7" title="Screenshot 2025-11-30 at 1.32.5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950" y="726325"/>
            <a:ext cx="5868974" cy="38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8" title="Screenshot 2025-11-30 at 1.57.0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700" y="462625"/>
            <a:ext cx="4074924" cy="293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8" title="Screenshot 2025-11-30 at 1.57.38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2350" y="462625"/>
            <a:ext cx="4379423" cy="29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ba7929efc_2_31"/>
          <p:cNvSpPr txBox="1"/>
          <p:nvPr>
            <p:ph type="title"/>
          </p:nvPr>
        </p:nvSpPr>
        <p:spPr>
          <a:xfrm>
            <a:off x="1303800" y="232475"/>
            <a:ext cx="7030500" cy="5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carbon footprint CPU Platforms</a:t>
            </a:r>
            <a:endParaRPr/>
          </a:p>
        </p:txBody>
      </p:sp>
      <p:sp>
        <p:nvSpPr>
          <p:cNvPr id="366" name="Google Shape;366;g3aba7929efc_2_31"/>
          <p:cNvSpPr txBox="1"/>
          <p:nvPr>
            <p:ph idx="1" type="body"/>
          </p:nvPr>
        </p:nvSpPr>
        <p:spPr>
          <a:xfrm>
            <a:off x="1303800" y="849075"/>
            <a:ext cx="7030500" cy="4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ba7929efc_2_36"/>
          <p:cNvSpPr txBox="1"/>
          <p:nvPr>
            <p:ph type="title"/>
          </p:nvPr>
        </p:nvSpPr>
        <p:spPr>
          <a:xfrm>
            <a:off x="1303800" y="122675"/>
            <a:ext cx="70305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VS after optimization CO2 emissions</a:t>
            </a:r>
            <a:endParaRPr/>
          </a:p>
        </p:txBody>
      </p:sp>
      <p:sp>
        <p:nvSpPr>
          <p:cNvPr id="372" name="Google Shape;372;g3aba7929efc_2_36"/>
          <p:cNvSpPr txBox="1"/>
          <p:nvPr>
            <p:ph idx="1" type="body"/>
          </p:nvPr>
        </p:nvSpPr>
        <p:spPr>
          <a:xfrm>
            <a:off x="1303800" y="739275"/>
            <a:ext cx="7030500" cy="40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ba7929efc_3_24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Research</a:t>
            </a:r>
            <a:endParaRPr/>
          </a:p>
        </p:txBody>
      </p:sp>
      <p:sp>
        <p:nvSpPr>
          <p:cNvPr id="378" name="Google Shape;378;g3aba7929efc_3_24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ba7929efc_2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Selected References</a:t>
            </a:r>
            <a:endParaRPr/>
          </a:p>
        </p:txBody>
      </p:sp>
      <p:sp>
        <p:nvSpPr>
          <p:cNvPr id="384" name="Google Shape;384;g3aba7929efc_2_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